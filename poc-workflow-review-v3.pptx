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 Workflow Review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 &amp; Originator (GOM/SAR)  ·  Working Draft  ·  March 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1005840" cy="274320"/>
          </a:xfrm>
          <a:prstGeom prst="rect">
            <a:avLst/>
          </a:prstGeom>
          <a:solidFill>
            <a:srgbClr val="1C2722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1600200" y="118872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1188720"/>
            <a:ext cx="960120" cy="3657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73352" y="128016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1673352" y="1426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position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9464" y="156362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4328" y="118872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24328" y="1188720"/>
            <a:ext cx="960120" cy="3657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28016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2697480" y="1426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 variables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593592" y="156362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48456" y="118872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48456" y="1188720"/>
            <a:ext cx="960120" cy="3657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21608" y="128016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3721608" y="1426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View map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17720" y="156362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72584" y="118872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72584" y="1188720"/>
            <a:ext cx="960120" cy="3657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128016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FILTER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4745736" y="1426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Filter producers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641848" y="156362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96712" y="118872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96712" y="1188720"/>
            <a:ext cx="960120" cy="3657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9864" y="128016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EXPORT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5769864" y="1426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Spreadsheet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665976" y="156362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0840" y="118872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0840" y="1188720"/>
            <a:ext cx="960120" cy="3657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93992" y="128016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HANDOFF</a:t>
            </a:r>
            <a:endParaRPr lang="en-US" sz="550" dirty="0"/>
          </a:p>
        </p:txBody>
      </p:sp>
      <p:sp>
        <p:nvSpPr>
          <p:cNvPr id="35" name="Text 33"/>
          <p:cNvSpPr/>
          <p:nvPr/>
        </p:nvSpPr>
        <p:spPr>
          <a:xfrm>
            <a:off x="6793992" y="1426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originators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690104" y="156362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44968" y="118872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44968" y="1188720"/>
            <a:ext cx="960120" cy="3657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8120" y="128016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MONITOR</a:t>
            </a:r>
            <a:endParaRPr lang="en-US" sz="550" dirty="0"/>
          </a:p>
        </p:txBody>
      </p:sp>
      <p:sp>
        <p:nvSpPr>
          <p:cNvPr id="40" name="Text 38"/>
          <p:cNvSpPr/>
          <p:nvPr/>
        </p:nvSpPr>
        <p:spPr>
          <a:xfrm>
            <a:off x="7818120" y="142646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Pull report manually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57200" y="2240280"/>
            <a:ext cx="1005840" cy="274320"/>
          </a:xfrm>
          <a:prstGeom prst="rect">
            <a:avLst/>
          </a:prstGeom>
          <a:solidFill>
            <a:srgbClr val="1C2722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ORIGINATOR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57200" y="25328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GOM / SAR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1600200" y="224028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00200" y="2240280"/>
            <a:ext cx="960120" cy="36576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73352" y="23317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RECEIVE</a:t>
            </a:r>
            <a:endParaRPr lang="en-US" sz="550" dirty="0"/>
          </a:p>
        </p:txBody>
      </p:sp>
      <p:sp>
        <p:nvSpPr>
          <p:cNvPr id="47" name="Text 45"/>
          <p:cNvSpPr/>
          <p:nvPr/>
        </p:nvSpPr>
        <p:spPr>
          <a:xfrm>
            <a:off x="1673352" y="247802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Weekly target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569464" y="261518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24328" y="224028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24328" y="2240280"/>
            <a:ext cx="960120" cy="36576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97480" y="23317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RECEIVE</a:t>
            </a:r>
            <a:endParaRPr lang="en-US" sz="550" dirty="0"/>
          </a:p>
        </p:txBody>
      </p:sp>
      <p:sp>
        <p:nvSpPr>
          <p:cNvPr id="52" name="Text 50"/>
          <p:cNvSpPr/>
          <p:nvPr/>
        </p:nvSpPr>
        <p:spPr>
          <a:xfrm>
            <a:off x="2697480" y="247802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Lead list via email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593592" y="261518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48456" y="224028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48456" y="2240280"/>
            <a:ext cx="960120" cy="36576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21608" y="23317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INBOUND</a:t>
            </a:r>
            <a:endParaRPr lang="en-US" sz="550" dirty="0"/>
          </a:p>
        </p:txBody>
      </p:sp>
      <p:sp>
        <p:nvSpPr>
          <p:cNvPr id="57" name="Text 55"/>
          <p:cNvSpPr/>
          <p:nvPr/>
        </p:nvSpPr>
        <p:spPr>
          <a:xfrm>
            <a:off x="3721608" y="247802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bid in context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617720" y="261518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72584" y="224028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72584" y="2240280"/>
            <a:ext cx="960120" cy="36576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45736" y="23317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OUTBOUND</a:t>
            </a:r>
            <a:endParaRPr lang="en-US" sz="550" dirty="0"/>
          </a:p>
        </p:txBody>
      </p:sp>
      <p:sp>
        <p:nvSpPr>
          <p:cNvPr id="62" name="Text 60"/>
          <p:cNvSpPr/>
          <p:nvPr/>
        </p:nvSpPr>
        <p:spPr>
          <a:xfrm>
            <a:off x="4745736" y="247802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Calls, POC list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641848" y="261518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696712" y="224028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96712" y="2240280"/>
            <a:ext cx="960120" cy="36576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69864" y="23317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CALL</a:t>
            </a:r>
            <a:endParaRPr lang="en-US" sz="550" dirty="0"/>
          </a:p>
        </p:txBody>
      </p:sp>
      <p:sp>
        <p:nvSpPr>
          <p:cNvPr id="67" name="Text 65"/>
          <p:cNvSpPr/>
          <p:nvPr/>
        </p:nvSpPr>
        <p:spPr>
          <a:xfrm>
            <a:off x="5769864" y="247802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Static price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665976" y="2615184"/>
            <a:ext cx="4572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20840" y="2240280"/>
            <a:ext cx="960120" cy="749808"/>
          </a:xfrm>
          <a:prstGeom prst="rect">
            <a:avLst/>
          </a:prstGeom>
          <a:solidFill>
            <a:srgbClr val="1C2722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20840" y="2240280"/>
            <a:ext cx="960120" cy="36576"/>
          </a:xfrm>
          <a:prstGeom prst="rect">
            <a:avLst/>
          </a:prstGeom>
          <a:solidFill>
            <a:srgbClr val="81AB40"/>
          </a:solidFill>
          <a:ln w="12700">
            <a:solidFill>
              <a:srgbClr val="81AB4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93992" y="23317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</a:t>
            </a:r>
            <a:endParaRPr lang="en-US" sz="550" dirty="0"/>
          </a:p>
        </p:txBody>
      </p:sp>
      <p:sp>
        <p:nvSpPr>
          <p:cNvPr id="72" name="Text 70"/>
          <p:cNvSpPr/>
          <p:nvPr/>
        </p:nvSpPr>
        <p:spPr>
          <a:xfrm>
            <a:off x="6793992" y="2478024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outcome log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9525">
            <a:solidFill>
              <a:srgbClr val="01632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33375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 ASSESSMENT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57200" y="3529584"/>
            <a:ext cx="2606040" cy="896112"/>
          </a:xfrm>
          <a:prstGeom prst="rect">
            <a:avLst/>
          </a:prstGeom>
          <a:solidFill>
            <a:srgbClr val="03441F"/>
          </a:solidFill>
          <a:ln w="9525">
            <a:solidFill>
              <a:srgbClr val="01632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4360" y="362102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PROS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94360" y="382219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ML-targeted lead list — better than a generic call queue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Map gives spatial context to producer locations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Forward bid price is present for originator calls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131820" y="3529584"/>
            <a:ext cx="2606040" cy="896112"/>
          </a:xfrm>
          <a:prstGeom prst="rect">
            <a:avLst/>
          </a:prstGeom>
          <a:solidFill>
            <a:srgbClr val="1A1500"/>
          </a:solidFill>
          <a:ln w="9525">
            <a:solidFill>
              <a:srgbClr val="3A3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68980" y="362102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EA8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3268980" y="382219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Pricing is static — stale the moment it's exported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Spreadsheet handoff nearly unusable on mobile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structured outcome log — Salesforce comment field only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5806440" y="3529584"/>
            <a:ext cx="2606040" cy="896112"/>
          </a:xfrm>
          <a:prstGeom prst="rect">
            <a:avLst/>
          </a:prstGeom>
          <a:solidFill>
            <a:srgbClr val="1A0404"/>
          </a:solidFill>
          <a:ln w="9525">
            <a:solidFill>
              <a:srgbClr val="4A0C0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943600" y="362102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PROBLEMS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943600" y="382219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 rebuilds landscape from scratch every week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attribution — ERP report scanned from memory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Inbound calls: no bid price visible in Salesforce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457200" y="46177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LEGEND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1170432" y="4617720"/>
            <a:ext cx="914400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70432" y="4617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Pain point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2212848" y="4617720"/>
            <a:ext cx="1591056" cy="201168"/>
          </a:xfrm>
          <a:prstGeom prst="rect">
            <a:avLst/>
          </a:prstGeom>
          <a:solidFill>
            <a:srgbClr val="1A1800"/>
          </a:solidFill>
          <a:ln w="9525">
            <a:solidFill>
              <a:srgbClr val="5A44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212848" y="46177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EA8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Partial / workaround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3931920" y="4617720"/>
            <a:ext cx="914400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931920" y="4617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Tools used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Calculates position · sets pricing strategy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position, develop strategy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 builds position and strategy from multiple sources into a custom spreadsheet. Still happens outside the tool before the week begins.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4279392"/>
            <a:ext cx="1669694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279392"/>
            <a:ext cx="16696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Disparate data sources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14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Calculates position · sets pricing strategy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variables, build landscape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 selects date, contract month, and commodity. Inputs basis, max bid, and freight to set the forward price. ML generates territory and pricing suggestions — but only after merchant hits apply.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4279392"/>
            <a:ext cx="1135685" cy="201168"/>
          </a:xfrm>
          <a:prstGeom prst="rect">
            <a:avLst/>
          </a:prstGeom>
          <a:solidFill>
            <a:srgbClr val="1A1800"/>
          </a:solidFill>
          <a:ln w="9525">
            <a:solidFill>
              <a:srgbClr val="5A4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279392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EA8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ML in the loop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483157" y="4279392"/>
            <a:ext cx="777240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3157" y="42793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 Tool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14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Calculates position · sets pricing strategy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 producers on map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Producers appear on the map with strategic bid prices plotted. A table view also exists but is visually disconnected from the map — merchant has to mentally reconcile both views.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4279392"/>
            <a:ext cx="1402690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279392"/>
            <a:ext cx="1402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Disconnected views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750162" y="4279392"/>
            <a:ext cx="777240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0162" y="42793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 Tool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14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Calculates position · sets pricing strategy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FILTER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producers manually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 removes recent spot price producers and recently contacted producers. Can generate a spreadsheet per originator — must repeat for each — or generate one combined file and split it manually afterward.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4279392"/>
            <a:ext cx="1869948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279392"/>
            <a:ext cx="18699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Repetitive per originator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14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Calculates position · sets pricing strategy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EXPORT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spreadsheet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Option A: one file per originator — must clean excess columns each time. Option B: one combined file — clean once but split manually. Both are painful. Pricing changes after export are not reflected.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4279392"/>
            <a:ext cx="1002182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279392"/>
            <a:ext cx="10021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Noisy export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349654" y="4279392"/>
            <a:ext cx="1269187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49654" y="4279392"/>
            <a:ext cx="126918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 Tool · Excel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14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Calculates position · sets pricing strategy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HANDOFF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to originators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 sends lead lists manually via email. No confirmation of receipt, no versioning, no live connection to the scenario.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4279392"/>
            <a:ext cx="1536192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27939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Disconnected handoff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83664" y="4279392"/>
            <a:ext cx="777240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83664" y="42793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14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Calculates position · sets pricing strategy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84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MONITOR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 report, scan manually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 pulls the sales contract report and manually scans a large table to identify which contracts were strategic bids — from memory. No attribution in the tool.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4279392"/>
            <a:ext cx="1135685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279392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attribution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483157" y="4279392"/>
            <a:ext cx="1335938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3157" y="4279392"/>
            <a:ext cx="1335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ERP · Spreadsheet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14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Originator (GOM/SAR)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Executes pricing · works leads inbound &amp; outbound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RECEIVE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target &amp; strategy from merchant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Originator receives weekly targets from merchant — usually via Monday team call or email. Still happens before the lead list arrives.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4279392"/>
            <a:ext cx="1202436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279392"/>
            <a:ext cx="12024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 delivery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549908" y="4279392"/>
            <a:ext cx="1068934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49908" y="4279392"/>
            <a:ext cx="10689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· Phone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14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Originator (GOM/SAR)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Executes pricing · works leads inbound &amp; outbound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RECEIVE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 lead list from merchant via email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Originator receives their own file or a combined file and filters for their leads. If merchant didn't clean the export, originator removes excess columns. Nearly unusable on mobile in the field.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4279392"/>
            <a:ext cx="1068934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279392"/>
            <a:ext cx="10689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Messy handoff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416406" y="4279392"/>
            <a:ext cx="1402690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6406" y="4279392"/>
            <a:ext cx="1402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Unusable on mobile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14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Originator (GOM/SAR)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Executes pricing · works leads inbound &amp; outbound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INBOUND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Inbound call — no bid price in context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Producer calls in — originator has no strategic bid price visible in Salesforce. Must recall from memory whether the producer is on the active list or cross-reference the spreadsheet mid-call.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4279392"/>
            <a:ext cx="1469441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279392"/>
            <a:ext cx="14694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in-context price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14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Originator (GOM/SAR)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Executes pricing · works leads inbound &amp; outbound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OUTBOUND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Outbound calls, POC lead list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Originator works an ML-targeted lead list — better prioritization than a generic queue. Still a spreadsheet in the field — nearly unusable on mobile for originators on the road.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4279392"/>
            <a:ext cx="1135685" cy="201168"/>
          </a:xfrm>
          <a:prstGeom prst="rect">
            <a:avLst/>
          </a:prstGeom>
          <a:solidFill>
            <a:srgbClr val="1A1800"/>
          </a:solidFill>
          <a:ln w="9525">
            <a:solidFill>
              <a:srgbClr val="5A4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279392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EA8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Some targeting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483157" y="4279392"/>
            <a:ext cx="1402690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3157" y="4279392"/>
            <a:ext cx="1402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Unusable on mobile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14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Originator (GOM/SAR)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Executes pricing · works leads inbound &amp; outbound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Quote price from spreadsheet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Originator quotes the forward bid price from the spreadsheet — the price the elevator will pay for grain delivered in the target contract month. Present but static — no live updates if merchant adjusts mid-week.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4279392"/>
            <a:ext cx="1135685" cy="201168"/>
          </a:xfrm>
          <a:prstGeom prst="rect">
            <a:avLst/>
          </a:prstGeom>
          <a:solidFill>
            <a:srgbClr val="1A1800"/>
          </a:solidFill>
          <a:ln w="9525">
            <a:solidFill>
              <a:srgbClr val="5A4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279392"/>
            <a:ext cx="1135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EA8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Static pricing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483157" y="4279392"/>
            <a:ext cx="1068934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3157" y="4279392"/>
            <a:ext cx="10689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Phone · Excel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14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54680" cy="5143500"/>
          </a:xfrm>
          <a:prstGeom prst="rect">
            <a:avLst/>
          </a:prstGeom>
          <a:solidFill>
            <a:srgbClr val="101C16"/>
          </a:solidFill>
          <a:ln w="12700">
            <a:solidFill>
              <a:srgbClr val="1C2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solidFill>
            <a:srgbClr val="01632D"/>
          </a:solidFill>
          <a:ln w="12700">
            <a:solidFill>
              <a:srgbClr val="016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BDE5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5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Originator (GOM/SAR)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0777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Executes pricing · works leads inbound &amp; outbound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521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135331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structured outcome log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2606040" cy="0"/>
          </a:xfrm>
          <a:prstGeom prst="line">
            <a:avLst/>
          </a:prstGeom>
          <a:noFill/>
          <a:ln w="6350">
            <a:solidFill>
              <a:srgbClr val="016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6888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A4A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Originator logs outcomes in Salesforce comment fields only — no standard format. Not fed back into the tool. The feedback loop between originator and merchant remains broken.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4279392"/>
            <a:ext cx="1335938" cy="201168"/>
          </a:xfrm>
          <a:prstGeom prst="rect">
            <a:avLst/>
          </a:prstGeom>
          <a:solidFill>
            <a:srgbClr val="2A0608"/>
          </a:solidFill>
          <a:ln w="9525">
            <a:solidFill>
              <a:srgbClr val="6A10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279392"/>
            <a:ext cx="1335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B56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Loop still broken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683410" y="4279392"/>
            <a:ext cx="868680" cy="201168"/>
          </a:xfrm>
          <a:prstGeom prst="rect">
            <a:avLst/>
          </a:prstGeom>
          <a:solidFill>
            <a:srgbClr val="0A1810"/>
          </a:solidFill>
          <a:ln w="9525">
            <a:solidFill>
              <a:srgbClr val="1A40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83410" y="42793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A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Salesforce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4320" y="48280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63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/ 14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291840" y="27432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4003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BDD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screenshot 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Workflow Review</dc:title>
  <dc:subject>PptxGenJS Presentation</dc:subject>
  <dc:creator>PptxGenJS</dc:creator>
  <cp:lastModifiedBy>PptxGenJS</cp:lastModifiedBy>
  <cp:revision>1</cp:revision>
  <dcterms:created xsi:type="dcterms:W3CDTF">2026-03-13T16:15:35Z</dcterms:created>
  <dcterms:modified xsi:type="dcterms:W3CDTF">2026-03-13T16:15:35Z</dcterms:modified>
</cp:coreProperties>
</file>