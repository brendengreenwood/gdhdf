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BDE5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POC Workflow Review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FA4A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Merchant &amp; Originator (GOM/SAR)  ·  Working Draft  ·  March 2026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8229600" cy="0"/>
          </a:xfrm>
          <a:prstGeom prst="line">
            <a:avLst/>
          </a:prstGeom>
          <a:noFill/>
          <a:ln w="9525">
            <a:solidFill>
              <a:srgbClr val="0163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1005840" cy="274320"/>
          </a:xfrm>
          <a:prstGeom prst="rect">
            <a:avLst/>
          </a:prstGeom>
          <a:solidFill>
            <a:srgbClr val="1C2722"/>
          </a:solidFill>
          <a:ln w="12700">
            <a:solidFill>
              <a:srgbClr val="0084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50" kern="0" dirty="0">
                <a:solidFill>
                  <a:srgbClr val="0084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MERCHANT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1600200" y="1188720"/>
            <a:ext cx="960120" cy="749808"/>
          </a:xfrm>
          <a:prstGeom prst="rect">
            <a:avLst/>
          </a:prstGeom>
          <a:solidFill>
            <a:srgbClr val="1C2722"/>
          </a:solidFill>
          <a:ln w="9525">
            <a:solidFill>
              <a:srgbClr val="0163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00200" y="1188720"/>
            <a:ext cx="960120" cy="36576"/>
          </a:xfrm>
          <a:prstGeom prst="rect">
            <a:avLst/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73352" y="1280160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100" kern="0" dirty="0">
                <a:solidFill>
                  <a:srgbClr val="7077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PLAN</a:t>
            </a:r>
            <a:endParaRPr lang="en-US" sz="550" dirty="0"/>
          </a:p>
        </p:txBody>
      </p:sp>
      <p:sp>
        <p:nvSpPr>
          <p:cNvPr id="11" name="Text 9"/>
          <p:cNvSpPr/>
          <p:nvPr/>
        </p:nvSpPr>
        <p:spPr>
          <a:xfrm>
            <a:off x="1673352" y="1426464"/>
            <a:ext cx="813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Review position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569464" y="1563624"/>
            <a:ext cx="45720" cy="0"/>
          </a:xfrm>
          <a:prstGeom prst="line">
            <a:avLst/>
          </a:prstGeom>
          <a:noFill/>
          <a:ln w="9525">
            <a:solidFill>
              <a:srgbClr val="01632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24328" y="1188720"/>
            <a:ext cx="960120" cy="749808"/>
          </a:xfrm>
          <a:prstGeom prst="rect">
            <a:avLst/>
          </a:prstGeom>
          <a:solidFill>
            <a:srgbClr val="1C2722"/>
          </a:solidFill>
          <a:ln w="9525">
            <a:solidFill>
              <a:srgbClr val="01632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24328" y="1188720"/>
            <a:ext cx="960120" cy="36576"/>
          </a:xfrm>
          <a:prstGeom prst="rect">
            <a:avLst/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80" y="1280160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100" kern="0" dirty="0">
                <a:solidFill>
                  <a:srgbClr val="7077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BUILD</a:t>
            </a:r>
            <a:endParaRPr lang="en-US" sz="550" dirty="0"/>
          </a:p>
        </p:txBody>
      </p:sp>
      <p:sp>
        <p:nvSpPr>
          <p:cNvPr id="16" name="Text 14"/>
          <p:cNvSpPr/>
          <p:nvPr/>
        </p:nvSpPr>
        <p:spPr>
          <a:xfrm>
            <a:off x="2697480" y="1426464"/>
            <a:ext cx="813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Enter variables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593592" y="1563624"/>
            <a:ext cx="45720" cy="0"/>
          </a:xfrm>
          <a:prstGeom prst="line">
            <a:avLst/>
          </a:prstGeom>
          <a:noFill/>
          <a:ln w="9525">
            <a:solidFill>
              <a:srgbClr val="01632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48456" y="1188720"/>
            <a:ext cx="960120" cy="749808"/>
          </a:xfrm>
          <a:prstGeom prst="rect">
            <a:avLst/>
          </a:prstGeom>
          <a:solidFill>
            <a:srgbClr val="1C2722"/>
          </a:solidFill>
          <a:ln w="9525">
            <a:solidFill>
              <a:srgbClr val="0163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48456" y="1188720"/>
            <a:ext cx="960120" cy="36576"/>
          </a:xfrm>
          <a:prstGeom prst="rect">
            <a:avLst/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21608" y="1280160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100" kern="0" dirty="0">
                <a:solidFill>
                  <a:srgbClr val="7077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REVIEW</a:t>
            </a:r>
            <a:endParaRPr lang="en-US" sz="550" dirty="0"/>
          </a:p>
        </p:txBody>
      </p:sp>
      <p:sp>
        <p:nvSpPr>
          <p:cNvPr id="21" name="Text 19"/>
          <p:cNvSpPr/>
          <p:nvPr/>
        </p:nvSpPr>
        <p:spPr>
          <a:xfrm>
            <a:off x="3721608" y="1426464"/>
            <a:ext cx="813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View map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617720" y="1563624"/>
            <a:ext cx="45720" cy="0"/>
          </a:xfrm>
          <a:prstGeom prst="line">
            <a:avLst/>
          </a:prstGeom>
          <a:noFill/>
          <a:ln w="9525">
            <a:solidFill>
              <a:srgbClr val="01632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72584" y="1188720"/>
            <a:ext cx="960120" cy="749808"/>
          </a:xfrm>
          <a:prstGeom prst="rect">
            <a:avLst/>
          </a:prstGeom>
          <a:solidFill>
            <a:srgbClr val="1C2722"/>
          </a:solidFill>
          <a:ln w="9525">
            <a:solidFill>
              <a:srgbClr val="01632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72584" y="1188720"/>
            <a:ext cx="960120" cy="36576"/>
          </a:xfrm>
          <a:prstGeom prst="rect">
            <a:avLst/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45736" y="1280160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100" kern="0" dirty="0">
                <a:solidFill>
                  <a:srgbClr val="7077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FILTER</a:t>
            </a:r>
            <a:endParaRPr lang="en-US" sz="550" dirty="0"/>
          </a:p>
        </p:txBody>
      </p:sp>
      <p:sp>
        <p:nvSpPr>
          <p:cNvPr id="26" name="Text 24"/>
          <p:cNvSpPr/>
          <p:nvPr/>
        </p:nvSpPr>
        <p:spPr>
          <a:xfrm>
            <a:off x="4745736" y="1426464"/>
            <a:ext cx="813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Filter producers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641848" y="1563624"/>
            <a:ext cx="45720" cy="0"/>
          </a:xfrm>
          <a:prstGeom prst="line">
            <a:avLst/>
          </a:prstGeom>
          <a:noFill/>
          <a:ln w="9525">
            <a:solidFill>
              <a:srgbClr val="01632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96712" y="1188720"/>
            <a:ext cx="960120" cy="749808"/>
          </a:xfrm>
          <a:prstGeom prst="rect">
            <a:avLst/>
          </a:prstGeom>
          <a:solidFill>
            <a:srgbClr val="1C2722"/>
          </a:solidFill>
          <a:ln w="9525">
            <a:solidFill>
              <a:srgbClr val="01632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96712" y="1188720"/>
            <a:ext cx="960120" cy="36576"/>
          </a:xfrm>
          <a:prstGeom prst="rect">
            <a:avLst/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69864" y="1280160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100" kern="0" dirty="0">
                <a:solidFill>
                  <a:srgbClr val="7077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EXPORT</a:t>
            </a:r>
            <a:endParaRPr lang="en-US" sz="550" dirty="0"/>
          </a:p>
        </p:txBody>
      </p:sp>
      <p:sp>
        <p:nvSpPr>
          <p:cNvPr id="31" name="Text 29"/>
          <p:cNvSpPr/>
          <p:nvPr/>
        </p:nvSpPr>
        <p:spPr>
          <a:xfrm>
            <a:off x="5769864" y="1426464"/>
            <a:ext cx="813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Spreadsheet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665976" y="1563624"/>
            <a:ext cx="45720" cy="0"/>
          </a:xfrm>
          <a:prstGeom prst="line">
            <a:avLst/>
          </a:prstGeom>
          <a:noFill/>
          <a:ln w="9525">
            <a:solidFill>
              <a:srgbClr val="01632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20840" y="1188720"/>
            <a:ext cx="960120" cy="749808"/>
          </a:xfrm>
          <a:prstGeom prst="rect">
            <a:avLst/>
          </a:prstGeom>
          <a:solidFill>
            <a:srgbClr val="1C2722"/>
          </a:solidFill>
          <a:ln w="9525">
            <a:solidFill>
              <a:srgbClr val="01632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20840" y="1188720"/>
            <a:ext cx="960120" cy="36576"/>
          </a:xfrm>
          <a:prstGeom prst="rect">
            <a:avLst/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93992" y="1280160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100" kern="0" dirty="0">
                <a:solidFill>
                  <a:srgbClr val="7077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HANDOFF</a:t>
            </a:r>
            <a:endParaRPr lang="en-US" sz="550" dirty="0"/>
          </a:p>
        </p:txBody>
      </p:sp>
      <p:sp>
        <p:nvSpPr>
          <p:cNvPr id="36" name="Text 34"/>
          <p:cNvSpPr/>
          <p:nvPr/>
        </p:nvSpPr>
        <p:spPr>
          <a:xfrm>
            <a:off x="6793992" y="1426464"/>
            <a:ext cx="813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Email originators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7690104" y="1563624"/>
            <a:ext cx="45720" cy="0"/>
          </a:xfrm>
          <a:prstGeom prst="line">
            <a:avLst/>
          </a:prstGeom>
          <a:noFill/>
          <a:ln w="9525">
            <a:solidFill>
              <a:srgbClr val="01632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44968" y="1188720"/>
            <a:ext cx="960120" cy="749808"/>
          </a:xfrm>
          <a:prstGeom prst="rect">
            <a:avLst/>
          </a:prstGeom>
          <a:solidFill>
            <a:srgbClr val="1C2722"/>
          </a:solidFill>
          <a:ln w="9525">
            <a:solidFill>
              <a:srgbClr val="01632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44968" y="1188720"/>
            <a:ext cx="960120" cy="36576"/>
          </a:xfrm>
          <a:prstGeom prst="rect">
            <a:avLst/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18120" y="1280160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100" kern="0" dirty="0">
                <a:solidFill>
                  <a:srgbClr val="7077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MONITOR</a:t>
            </a:r>
            <a:endParaRPr lang="en-US" sz="550" dirty="0"/>
          </a:p>
        </p:txBody>
      </p:sp>
      <p:sp>
        <p:nvSpPr>
          <p:cNvPr id="41" name="Text 39"/>
          <p:cNvSpPr/>
          <p:nvPr/>
        </p:nvSpPr>
        <p:spPr>
          <a:xfrm>
            <a:off x="7818120" y="1426464"/>
            <a:ext cx="813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Pull report manually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57200" y="2240280"/>
            <a:ext cx="1005840" cy="274320"/>
          </a:xfrm>
          <a:prstGeom prst="rect">
            <a:avLst/>
          </a:prstGeom>
          <a:solidFill>
            <a:srgbClr val="1C2722"/>
          </a:solidFill>
          <a:ln w="12700">
            <a:solidFill>
              <a:srgbClr val="81AB4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2240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50" kern="0" dirty="0">
                <a:solidFill>
                  <a:srgbClr val="81A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ORIGINATOR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457200" y="253288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7077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GOM / SAR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1600200" y="2240280"/>
            <a:ext cx="960120" cy="749808"/>
          </a:xfrm>
          <a:prstGeom prst="rect">
            <a:avLst/>
          </a:prstGeom>
          <a:solidFill>
            <a:srgbClr val="1C2722"/>
          </a:solidFill>
          <a:ln w="9525">
            <a:solidFill>
              <a:srgbClr val="01632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00200" y="2240280"/>
            <a:ext cx="960120" cy="36576"/>
          </a:xfrm>
          <a:prstGeom prst="rect">
            <a:avLst/>
          </a:prstGeom>
          <a:solidFill>
            <a:srgbClr val="81AB40"/>
          </a:solidFill>
          <a:ln w="12700">
            <a:solidFill>
              <a:srgbClr val="81AB4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673352" y="2331720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100" kern="0" dirty="0">
                <a:solidFill>
                  <a:srgbClr val="7077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RECEIVE</a:t>
            </a:r>
            <a:endParaRPr lang="en-US" sz="550" dirty="0"/>
          </a:p>
        </p:txBody>
      </p:sp>
      <p:sp>
        <p:nvSpPr>
          <p:cNvPr id="48" name="Text 46"/>
          <p:cNvSpPr/>
          <p:nvPr/>
        </p:nvSpPr>
        <p:spPr>
          <a:xfrm>
            <a:off x="1673352" y="2478024"/>
            <a:ext cx="813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Weekly target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2569464" y="2615184"/>
            <a:ext cx="45720" cy="0"/>
          </a:xfrm>
          <a:prstGeom prst="line">
            <a:avLst/>
          </a:prstGeom>
          <a:noFill/>
          <a:ln w="9525">
            <a:solidFill>
              <a:srgbClr val="01632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624328" y="2240280"/>
            <a:ext cx="960120" cy="749808"/>
          </a:xfrm>
          <a:prstGeom prst="rect">
            <a:avLst/>
          </a:prstGeom>
          <a:solidFill>
            <a:srgbClr val="1C2722"/>
          </a:solidFill>
          <a:ln w="9525">
            <a:solidFill>
              <a:srgbClr val="01632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624328" y="2240280"/>
            <a:ext cx="960120" cy="36576"/>
          </a:xfrm>
          <a:prstGeom prst="rect">
            <a:avLst/>
          </a:prstGeom>
          <a:solidFill>
            <a:srgbClr val="81AB40"/>
          </a:solidFill>
          <a:ln w="12700">
            <a:solidFill>
              <a:srgbClr val="81AB4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697480" y="2331720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100" kern="0" dirty="0">
                <a:solidFill>
                  <a:srgbClr val="7077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RECEIVE</a:t>
            </a:r>
            <a:endParaRPr lang="en-US" sz="550" dirty="0"/>
          </a:p>
        </p:txBody>
      </p:sp>
      <p:sp>
        <p:nvSpPr>
          <p:cNvPr id="53" name="Text 51"/>
          <p:cNvSpPr/>
          <p:nvPr/>
        </p:nvSpPr>
        <p:spPr>
          <a:xfrm>
            <a:off x="2697480" y="2478024"/>
            <a:ext cx="813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Lead list via email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593592" y="2615184"/>
            <a:ext cx="45720" cy="0"/>
          </a:xfrm>
          <a:prstGeom prst="line">
            <a:avLst/>
          </a:prstGeom>
          <a:noFill/>
          <a:ln w="9525">
            <a:solidFill>
              <a:srgbClr val="01632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648456" y="2240280"/>
            <a:ext cx="960120" cy="749808"/>
          </a:xfrm>
          <a:prstGeom prst="rect">
            <a:avLst/>
          </a:prstGeom>
          <a:solidFill>
            <a:srgbClr val="1C2722"/>
          </a:solidFill>
          <a:ln w="9525">
            <a:solidFill>
              <a:srgbClr val="01632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648456" y="2240280"/>
            <a:ext cx="960120" cy="36576"/>
          </a:xfrm>
          <a:prstGeom prst="rect">
            <a:avLst/>
          </a:prstGeom>
          <a:solidFill>
            <a:srgbClr val="81AB40"/>
          </a:solidFill>
          <a:ln w="12700">
            <a:solidFill>
              <a:srgbClr val="81AB4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721608" y="2331720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100" kern="0" dirty="0">
                <a:solidFill>
                  <a:srgbClr val="7077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INBOUND</a:t>
            </a:r>
            <a:endParaRPr lang="en-US" sz="550" dirty="0"/>
          </a:p>
        </p:txBody>
      </p:sp>
      <p:sp>
        <p:nvSpPr>
          <p:cNvPr id="58" name="Text 56"/>
          <p:cNvSpPr/>
          <p:nvPr/>
        </p:nvSpPr>
        <p:spPr>
          <a:xfrm>
            <a:off x="3721608" y="2478024"/>
            <a:ext cx="813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bid in context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617720" y="2615184"/>
            <a:ext cx="45720" cy="0"/>
          </a:xfrm>
          <a:prstGeom prst="line">
            <a:avLst/>
          </a:prstGeom>
          <a:noFill/>
          <a:ln w="9525">
            <a:solidFill>
              <a:srgbClr val="01632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672584" y="2240280"/>
            <a:ext cx="960120" cy="749808"/>
          </a:xfrm>
          <a:prstGeom prst="rect">
            <a:avLst/>
          </a:prstGeom>
          <a:solidFill>
            <a:srgbClr val="1C2722"/>
          </a:solidFill>
          <a:ln w="9525">
            <a:solidFill>
              <a:srgbClr val="01632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672584" y="2240280"/>
            <a:ext cx="960120" cy="36576"/>
          </a:xfrm>
          <a:prstGeom prst="rect">
            <a:avLst/>
          </a:prstGeom>
          <a:solidFill>
            <a:srgbClr val="81AB40"/>
          </a:solidFill>
          <a:ln w="12700">
            <a:solidFill>
              <a:srgbClr val="81AB4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45736" y="2331720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100" kern="0" dirty="0">
                <a:solidFill>
                  <a:srgbClr val="7077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OUTBOUND</a:t>
            </a:r>
            <a:endParaRPr lang="en-US" sz="550" dirty="0"/>
          </a:p>
        </p:txBody>
      </p:sp>
      <p:sp>
        <p:nvSpPr>
          <p:cNvPr id="63" name="Text 61"/>
          <p:cNvSpPr/>
          <p:nvPr/>
        </p:nvSpPr>
        <p:spPr>
          <a:xfrm>
            <a:off x="4745736" y="2478024"/>
            <a:ext cx="813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Calls, POC list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5641848" y="2615184"/>
            <a:ext cx="45720" cy="0"/>
          </a:xfrm>
          <a:prstGeom prst="line">
            <a:avLst/>
          </a:prstGeom>
          <a:noFill/>
          <a:ln w="9525">
            <a:solidFill>
              <a:srgbClr val="01632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696712" y="2240280"/>
            <a:ext cx="960120" cy="749808"/>
          </a:xfrm>
          <a:prstGeom prst="rect">
            <a:avLst/>
          </a:prstGeom>
          <a:solidFill>
            <a:srgbClr val="1C2722"/>
          </a:solidFill>
          <a:ln w="9525">
            <a:solidFill>
              <a:srgbClr val="01632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696712" y="2240280"/>
            <a:ext cx="960120" cy="36576"/>
          </a:xfrm>
          <a:prstGeom prst="rect">
            <a:avLst/>
          </a:prstGeom>
          <a:solidFill>
            <a:srgbClr val="81AB40"/>
          </a:solidFill>
          <a:ln w="12700">
            <a:solidFill>
              <a:srgbClr val="81AB4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769864" y="2331720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100" kern="0" dirty="0">
                <a:solidFill>
                  <a:srgbClr val="7077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CALL</a:t>
            </a:r>
            <a:endParaRPr lang="en-US" sz="550" dirty="0"/>
          </a:p>
        </p:txBody>
      </p:sp>
      <p:sp>
        <p:nvSpPr>
          <p:cNvPr id="68" name="Text 66"/>
          <p:cNvSpPr/>
          <p:nvPr/>
        </p:nvSpPr>
        <p:spPr>
          <a:xfrm>
            <a:off x="5769864" y="2478024"/>
            <a:ext cx="813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Static price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6665976" y="2615184"/>
            <a:ext cx="45720" cy="0"/>
          </a:xfrm>
          <a:prstGeom prst="line">
            <a:avLst/>
          </a:prstGeom>
          <a:noFill/>
          <a:ln w="9525">
            <a:solidFill>
              <a:srgbClr val="01632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720840" y="2240280"/>
            <a:ext cx="960120" cy="749808"/>
          </a:xfrm>
          <a:prstGeom prst="rect">
            <a:avLst/>
          </a:prstGeom>
          <a:solidFill>
            <a:srgbClr val="1C2722"/>
          </a:solidFill>
          <a:ln w="9525">
            <a:solidFill>
              <a:srgbClr val="01632D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20840" y="2240280"/>
            <a:ext cx="960120" cy="36576"/>
          </a:xfrm>
          <a:prstGeom prst="rect">
            <a:avLst/>
          </a:prstGeom>
          <a:solidFill>
            <a:srgbClr val="81AB40"/>
          </a:solidFill>
          <a:ln w="12700">
            <a:solidFill>
              <a:srgbClr val="81AB4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793992" y="2331720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100" kern="0" dirty="0">
                <a:solidFill>
                  <a:srgbClr val="7077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LOG</a:t>
            </a:r>
            <a:endParaRPr lang="en-US" sz="550" dirty="0"/>
          </a:p>
        </p:txBody>
      </p:sp>
      <p:sp>
        <p:nvSpPr>
          <p:cNvPr id="73" name="Text 71"/>
          <p:cNvSpPr/>
          <p:nvPr/>
        </p:nvSpPr>
        <p:spPr>
          <a:xfrm>
            <a:off x="6793992" y="2478024"/>
            <a:ext cx="813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outcome log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457200" y="3246120"/>
            <a:ext cx="8229600" cy="0"/>
          </a:xfrm>
          <a:prstGeom prst="line">
            <a:avLst/>
          </a:prstGeom>
          <a:noFill/>
          <a:ln w="9525">
            <a:solidFill>
              <a:srgbClr val="01632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57200" y="333756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084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POC ASSESSMENT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457200" y="3529584"/>
            <a:ext cx="2606040" cy="896112"/>
          </a:xfrm>
          <a:prstGeom prst="rect">
            <a:avLst/>
          </a:prstGeom>
          <a:solidFill>
            <a:srgbClr val="03441F"/>
          </a:solidFill>
          <a:ln w="9525">
            <a:solidFill>
              <a:srgbClr val="01632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94360" y="3621024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084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PROS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594360" y="3822192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DBDD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ML-targeted lead list — better than a generic call queue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DBDD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Map gives spatial context to producer locations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DBDD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Forward bid price is present for originator calls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3131820" y="3529584"/>
            <a:ext cx="2606040" cy="896112"/>
          </a:xfrm>
          <a:prstGeom prst="rect">
            <a:avLst/>
          </a:prstGeom>
          <a:solidFill>
            <a:srgbClr val="1A1500"/>
          </a:solidFill>
          <a:ln w="9525">
            <a:solidFill>
              <a:srgbClr val="3A300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268980" y="3621024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FEA8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CONS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3268980" y="3822192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DBDD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Pricing is static — stale the moment it's exported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DBDD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Spreadsheet handoff nearly unusable on mobile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DBDD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structured outcome log — Salesforce comment field only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5806440" y="3529584"/>
            <a:ext cx="2606040" cy="896112"/>
          </a:xfrm>
          <a:prstGeom prst="rect">
            <a:avLst/>
          </a:prstGeom>
          <a:solidFill>
            <a:srgbClr val="1A0404"/>
          </a:solidFill>
          <a:ln w="9525">
            <a:solidFill>
              <a:srgbClr val="4A0C0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943600" y="3621024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EB56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PROBLEMS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5943600" y="3822192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DBDD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Merchant rebuilds landscape from scratch every week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DBDD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attribution — ERP report scanned from memory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DBDD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Inbound calls: no bid price visible in Salesforce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457200" y="461772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7077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LEGEND</a:t>
            </a:r>
            <a:endParaRPr lang="en-US" sz="650" dirty="0"/>
          </a:p>
        </p:txBody>
      </p:sp>
      <p:sp>
        <p:nvSpPr>
          <p:cNvPr id="86" name="Shape 84"/>
          <p:cNvSpPr/>
          <p:nvPr/>
        </p:nvSpPr>
        <p:spPr>
          <a:xfrm>
            <a:off x="1170432" y="4617720"/>
            <a:ext cx="914400" cy="201168"/>
          </a:xfrm>
          <a:prstGeom prst="rect">
            <a:avLst/>
          </a:prstGeom>
          <a:solidFill>
            <a:srgbClr val="2A0608"/>
          </a:solidFill>
          <a:ln w="9525">
            <a:solidFill>
              <a:srgbClr val="6A101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170432" y="46177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B56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Pain point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2212848" y="4617720"/>
            <a:ext cx="1591056" cy="201168"/>
          </a:xfrm>
          <a:prstGeom prst="rect">
            <a:avLst/>
          </a:prstGeom>
          <a:solidFill>
            <a:srgbClr val="1A1800"/>
          </a:solidFill>
          <a:ln w="9525">
            <a:solidFill>
              <a:srgbClr val="5A440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212848" y="4617720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EA8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Partial / workaround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3931920" y="4617720"/>
            <a:ext cx="914400" cy="201168"/>
          </a:xfrm>
          <a:prstGeom prst="rect">
            <a:avLst/>
          </a:prstGeom>
          <a:solidFill>
            <a:srgbClr val="0A1810"/>
          </a:solidFill>
          <a:ln w="9525">
            <a:solidFill>
              <a:srgbClr val="1A4028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931920" y="46177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1A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Tools used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1632D"/>
          </a:solidFill>
          <a:ln w="12700">
            <a:solidFill>
              <a:srgbClr val="01632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54680" cy="5143500"/>
          </a:xfrm>
          <a:prstGeom prst="rect">
            <a:avLst/>
          </a:prstGeom>
          <a:solidFill>
            <a:srgbClr val="101C16"/>
          </a:solidFill>
          <a:ln w="12700">
            <a:solidFill>
              <a:srgbClr val="1C27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154680" cy="54864"/>
          </a:xfrm>
          <a:prstGeom prst="rect">
            <a:avLst/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01168"/>
            <a:ext cx="548640" cy="182880"/>
          </a:xfrm>
          <a:prstGeom prst="rect">
            <a:avLst/>
          </a:prstGeom>
          <a:solidFill>
            <a:srgbClr val="01632D"/>
          </a:solidFill>
          <a:ln w="12700">
            <a:solidFill>
              <a:srgbClr val="0163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0116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BDE5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POC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74320" y="5029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E5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Merchant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74980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077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Calculates position · sets pricing strategy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42416"/>
            <a:ext cx="2606040" cy="0"/>
          </a:xfrm>
          <a:prstGeom prst="line">
            <a:avLst/>
          </a:prstGeom>
          <a:noFill/>
          <a:ln w="6350">
            <a:solidFill>
              <a:srgbClr val="0163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52144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084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PLAN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74320" y="135331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position, develop strategy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4320" y="2359152"/>
            <a:ext cx="2606040" cy="0"/>
          </a:xfrm>
          <a:prstGeom prst="line">
            <a:avLst/>
          </a:prstGeom>
          <a:noFill/>
          <a:ln w="6350">
            <a:solidFill>
              <a:srgbClr val="0163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468880"/>
            <a:ext cx="2606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FA4A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Merchant builds position and strategy from multiple sources into a custom spreadsheet. Still happens outside the tool before the week begins.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4279392"/>
            <a:ext cx="1669694" cy="201168"/>
          </a:xfrm>
          <a:prstGeom prst="rect">
            <a:avLst/>
          </a:prstGeom>
          <a:solidFill>
            <a:srgbClr val="2A0608"/>
          </a:solidFill>
          <a:ln w="9525">
            <a:solidFill>
              <a:srgbClr val="6A101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279392"/>
            <a:ext cx="16696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B56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Disparate data sources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74320" y="482803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163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 / 14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0" y="4960620"/>
            <a:ext cx="3154680" cy="182880"/>
          </a:xfrm>
          <a:prstGeom prst="rect">
            <a:avLst/>
          </a:prstGeom>
          <a:solidFill>
            <a:srgbClr val="01632D"/>
          </a:solidFill>
          <a:ln w="12700">
            <a:solidFill>
              <a:srgbClr val="0163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0" y="274320"/>
            <a:ext cx="55778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E8"/>
            </a:solidFill>
            <a:prstDash val="dash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91840" y="24003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BDD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 screenshot 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54680" y="4960620"/>
            <a:ext cx="5989320" cy="182880"/>
          </a:xfrm>
          <a:prstGeom prst="rect">
            <a:avLst/>
          </a:prstGeom>
          <a:solidFill>
            <a:srgbClr val="E7E8E8"/>
          </a:solidFill>
          <a:ln w="12700">
            <a:solidFill>
              <a:srgbClr val="E7E8E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54680" cy="5143500"/>
          </a:xfrm>
          <a:prstGeom prst="rect">
            <a:avLst/>
          </a:prstGeom>
          <a:solidFill>
            <a:srgbClr val="101C16"/>
          </a:solidFill>
          <a:ln w="12700">
            <a:solidFill>
              <a:srgbClr val="1C27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154680" cy="54864"/>
          </a:xfrm>
          <a:prstGeom prst="rect">
            <a:avLst/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01168"/>
            <a:ext cx="548640" cy="182880"/>
          </a:xfrm>
          <a:prstGeom prst="rect">
            <a:avLst/>
          </a:prstGeom>
          <a:solidFill>
            <a:srgbClr val="01632D"/>
          </a:solidFill>
          <a:ln w="12700">
            <a:solidFill>
              <a:srgbClr val="0163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0116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BDE5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POC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74320" y="5029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E5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Merchant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74980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077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Calculates position · sets pricing strategy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42416"/>
            <a:ext cx="2606040" cy="0"/>
          </a:xfrm>
          <a:prstGeom prst="line">
            <a:avLst/>
          </a:prstGeom>
          <a:noFill/>
          <a:ln w="6350">
            <a:solidFill>
              <a:srgbClr val="0163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52144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084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74320" y="135331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 variables, build landscape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4320" y="2359152"/>
            <a:ext cx="2606040" cy="0"/>
          </a:xfrm>
          <a:prstGeom prst="line">
            <a:avLst/>
          </a:prstGeom>
          <a:noFill/>
          <a:ln w="6350">
            <a:solidFill>
              <a:srgbClr val="0163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468880"/>
            <a:ext cx="2606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FA4A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Merchant selects date, contract month, and commodity. Inputs basis, max bid, and freight to set the forward price. ML generates territory and pricing suggestions — but only after merchant hits apply.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4279392"/>
            <a:ext cx="1135685" cy="201168"/>
          </a:xfrm>
          <a:prstGeom prst="rect">
            <a:avLst/>
          </a:prstGeom>
          <a:solidFill>
            <a:srgbClr val="1A1800"/>
          </a:solidFill>
          <a:ln w="9525">
            <a:solidFill>
              <a:srgbClr val="5A44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279392"/>
            <a:ext cx="11356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EA8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ML in the loop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483157" y="4279392"/>
            <a:ext cx="777240" cy="201168"/>
          </a:xfrm>
          <a:prstGeom prst="rect">
            <a:avLst/>
          </a:prstGeom>
          <a:solidFill>
            <a:srgbClr val="0A1810"/>
          </a:solidFill>
          <a:ln w="9525">
            <a:solidFill>
              <a:srgbClr val="1A40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83157" y="427939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1A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POC Tool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74320" y="482803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163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/ 14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0" y="4960620"/>
            <a:ext cx="3154680" cy="182880"/>
          </a:xfrm>
          <a:prstGeom prst="rect">
            <a:avLst/>
          </a:prstGeom>
          <a:solidFill>
            <a:srgbClr val="01632D"/>
          </a:solidFill>
          <a:ln w="12700">
            <a:solidFill>
              <a:srgbClr val="0163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0" y="274320"/>
            <a:ext cx="55778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E8"/>
            </a:solidFill>
            <a:prstDash val="dash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91840" y="24003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BDD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 screenshot ]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54680" y="4960620"/>
            <a:ext cx="5989320" cy="182880"/>
          </a:xfrm>
          <a:prstGeom prst="rect">
            <a:avLst/>
          </a:prstGeom>
          <a:solidFill>
            <a:srgbClr val="E7E8E8"/>
          </a:solidFill>
          <a:ln w="12700">
            <a:solidFill>
              <a:srgbClr val="E7E8E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54680" cy="5143500"/>
          </a:xfrm>
          <a:prstGeom prst="rect">
            <a:avLst/>
          </a:prstGeom>
          <a:solidFill>
            <a:srgbClr val="101C16"/>
          </a:solidFill>
          <a:ln w="12700">
            <a:solidFill>
              <a:srgbClr val="1C27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154680" cy="54864"/>
          </a:xfrm>
          <a:prstGeom prst="rect">
            <a:avLst/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01168"/>
            <a:ext cx="548640" cy="182880"/>
          </a:xfrm>
          <a:prstGeom prst="rect">
            <a:avLst/>
          </a:prstGeom>
          <a:solidFill>
            <a:srgbClr val="01632D"/>
          </a:solidFill>
          <a:ln w="12700">
            <a:solidFill>
              <a:srgbClr val="0163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0116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BDE5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POC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74320" y="5029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E5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Merchant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74980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077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Calculates position · sets pricing strategy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42416"/>
            <a:ext cx="2606040" cy="0"/>
          </a:xfrm>
          <a:prstGeom prst="line">
            <a:avLst/>
          </a:prstGeom>
          <a:noFill/>
          <a:ln w="6350">
            <a:solidFill>
              <a:srgbClr val="0163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52144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084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REVIEW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74320" y="135331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View producers on map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4320" y="2359152"/>
            <a:ext cx="2606040" cy="0"/>
          </a:xfrm>
          <a:prstGeom prst="line">
            <a:avLst/>
          </a:prstGeom>
          <a:noFill/>
          <a:ln w="6350">
            <a:solidFill>
              <a:srgbClr val="0163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468880"/>
            <a:ext cx="2606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FA4A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Producers appear on the map with strategic bid prices plotted. A table view also exists but is visually disconnected from the map — merchant has to mentally reconcile both views.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4279392"/>
            <a:ext cx="1402690" cy="201168"/>
          </a:xfrm>
          <a:prstGeom prst="rect">
            <a:avLst/>
          </a:prstGeom>
          <a:solidFill>
            <a:srgbClr val="2A0608"/>
          </a:solidFill>
          <a:ln w="9525">
            <a:solidFill>
              <a:srgbClr val="6A101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279392"/>
            <a:ext cx="14026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B56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Disconnected views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750162" y="4279392"/>
            <a:ext cx="777240" cy="201168"/>
          </a:xfrm>
          <a:prstGeom prst="rect">
            <a:avLst/>
          </a:prstGeom>
          <a:solidFill>
            <a:srgbClr val="0A1810"/>
          </a:solidFill>
          <a:ln w="9525">
            <a:solidFill>
              <a:srgbClr val="1A40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50162" y="427939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1A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POC Tool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74320" y="482803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163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 / 14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0" y="4960620"/>
            <a:ext cx="3154680" cy="182880"/>
          </a:xfrm>
          <a:prstGeom prst="rect">
            <a:avLst/>
          </a:prstGeom>
          <a:solidFill>
            <a:srgbClr val="01632D"/>
          </a:solidFill>
          <a:ln w="12700">
            <a:solidFill>
              <a:srgbClr val="0163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0" y="274320"/>
            <a:ext cx="55778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E8"/>
            </a:solidFill>
            <a:prstDash val="dash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91840" y="24003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BDD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 screenshot ]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54680" y="4960620"/>
            <a:ext cx="5989320" cy="182880"/>
          </a:xfrm>
          <a:prstGeom prst="rect">
            <a:avLst/>
          </a:prstGeom>
          <a:solidFill>
            <a:srgbClr val="E7E8E8"/>
          </a:solidFill>
          <a:ln w="12700">
            <a:solidFill>
              <a:srgbClr val="E7E8E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54680" cy="5143500"/>
          </a:xfrm>
          <a:prstGeom prst="rect">
            <a:avLst/>
          </a:prstGeom>
          <a:solidFill>
            <a:srgbClr val="101C16"/>
          </a:solidFill>
          <a:ln w="12700">
            <a:solidFill>
              <a:srgbClr val="1C27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154680" cy="54864"/>
          </a:xfrm>
          <a:prstGeom prst="rect">
            <a:avLst/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01168"/>
            <a:ext cx="548640" cy="182880"/>
          </a:xfrm>
          <a:prstGeom prst="rect">
            <a:avLst/>
          </a:prstGeom>
          <a:solidFill>
            <a:srgbClr val="01632D"/>
          </a:solidFill>
          <a:ln w="12700">
            <a:solidFill>
              <a:srgbClr val="0163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0116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BDE5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POC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74320" y="5029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E5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Merchant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74980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077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Calculates position · sets pricing strategy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42416"/>
            <a:ext cx="2606040" cy="0"/>
          </a:xfrm>
          <a:prstGeom prst="line">
            <a:avLst/>
          </a:prstGeom>
          <a:noFill/>
          <a:ln w="6350">
            <a:solidFill>
              <a:srgbClr val="0163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52144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084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FILTER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74320" y="135331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Filter producers manually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4320" y="2359152"/>
            <a:ext cx="2606040" cy="0"/>
          </a:xfrm>
          <a:prstGeom prst="line">
            <a:avLst/>
          </a:prstGeom>
          <a:noFill/>
          <a:ln w="6350">
            <a:solidFill>
              <a:srgbClr val="0163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468880"/>
            <a:ext cx="2606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FA4A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Merchant removes recent spot price producers and recently contacted producers. Can generate a spreadsheet per originator — must repeat for each — or generate one combined file and split it manually afterward.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4279392"/>
            <a:ext cx="1869948" cy="201168"/>
          </a:xfrm>
          <a:prstGeom prst="rect">
            <a:avLst/>
          </a:prstGeom>
          <a:solidFill>
            <a:srgbClr val="2A0608"/>
          </a:solidFill>
          <a:ln w="9525">
            <a:solidFill>
              <a:srgbClr val="6A101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279392"/>
            <a:ext cx="18699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B56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Repetitive per originator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74320" y="482803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163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 / 14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0" y="4960620"/>
            <a:ext cx="3154680" cy="182880"/>
          </a:xfrm>
          <a:prstGeom prst="rect">
            <a:avLst/>
          </a:prstGeom>
          <a:solidFill>
            <a:srgbClr val="01632D"/>
          </a:solidFill>
          <a:ln w="12700">
            <a:solidFill>
              <a:srgbClr val="0163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0" y="274320"/>
            <a:ext cx="55778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E8"/>
            </a:solidFill>
            <a:prstDash val="dash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91840" y="24003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BDD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 screenshot 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54680" y="4960620"/>
            <a:ext cx="5989320" cy="182880"/>
          </a:xfrm>
          <a:prstGeom prst="rect">
            <a:avLst/>
          </a:prstGeom>
          <a:solidFill>
            <a:srgbClr val="E7E8E8"/>
          </a:solidFill>
          <a:ln w="12700">
            <a:solidFill>
              <a:srgbClr val="E7E8E8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54680" cy="5143500"/>
          </a:xfrm>
          <a:prstGeom prst="rect">
            <a:avLst/>
          </a:prstGeom>
          <a:solidFill>
            <a:srgbClr val="101C16"/>
          </a:solidFill>
          <a:ln w="12700">
            <a:solidFill>
              <a:srgbClr val="1C27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154680" cy="54864"/>
          </a:xfrm>
          <a:prstGeom prst="rect">
            <a:avLst/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01168"/>
            <a:ext cx="548640" cy="182880"/>
          </a:xfrm>
          <a:prstGeom prst="rect">
            <a:avLst/>
          </a:prstGeom>
          <a:solidFill>
            <a:srgbClr val="01632D"/>
          </a:solidFill>
          <a:ln w="12700">
            <a:solidFill>
              <a:srgbClr val="0163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0116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BDE5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POC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74320" y="5029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E5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Merchant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74980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077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Calculates position · sets pricing strategy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42416"/>
            <a:ext cx="2606040" cy="0"/>
          </a:xfrm>
          <a:prstGeom prst="line">
            <a:avLst/>
          </a:prstGeom>
          <a:noFill/>
          <a:ln w="6350">
            <a:solidFill>
              <a:srgbClr val="0163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52144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084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EXPORT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74320" y="135331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 spreadsheet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4320" y="2359152"/>
            <a:ext cx="2606040" cy="0"/>
          </a:xfrm>
          <a:prstGeom prst="line">
            <a:avLst/>
          </a:prstGeom>
          <a:noFill/>
          <a:ln w="6350">
            <a:solidFill>
              <a:srgbClr val="0163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468880"/>
            <a:ext cx="2606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FA4A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Option A: one file per originator — must clean excess columns each time. Option B: one combined file — clean once but split manually. Both are painful. Pricing changes after export are not reflected.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4279392"/>
            <a:ext cx="1002182" cy="201168"/>
          </a:xfrm>
          <a:prstGeom prst="rect">
            <a:avLst/>
          </a:prstGeom>
          <a:solidFill>
            <a:srgbClr val="2A0608"/>
          </a:solidFill>
          <a:ln w="9525">
            <a:solidFill>
              <a:srgbClr val="6A101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279392"/>
            <a:ext cx="10021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B56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Noisy export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349654" y="4279392"/>
            <a:ext cx="1269187" cy="201168"/>
          </a:xfrm>
          <a:prstGeom prst="rect">
            <a:avLst/>
          </a:prstGeom>
          <a:solidFill>
            <a:srgbClr val="0A1810"/>
          </a:solidFill>
          <a:ln w="9525">
            <a:solidFill>
              <a:srgbClr val="1A40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49654" y="4279392"/>
            <a:ext cx="126918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1A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POC Tool · Excel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74320" y="482803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163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 / 14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0" y="4960620"/>
            <a:ext cx="3154680" cy="182880"/>
          </a:xfrm>
          <a:prstGeom prst="rect">
            <a:avLst/>
          </a:prstGeom>
          <a:solidFill>
            <a:srgbClr val="01632D"/>
          </a:solidFill>
          <a:ln w="12700">
            <a:solidFill>
              <a:srgbClr val="0163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0" y="274320"/>
            <a:ext cx="55778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E8"/>
            </a:solidFill>
            <a:prstDash val="dash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91840" y="24003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BDD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 screenshot ]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54680" y="4960620"/>
            <a:ext cx="5989320" cy="182880"/>
          </a:xfrm>
          <a:prstGeom prst="rect">
            <a:avLst/>
          </a:prstGeom>
          <a:solidFill>
            <a:srgbClr val="E7E8E8"/>
          </a:solidFill>
          <a:ln w="12700">
            <a:solidFill>
              <a:srgbClr val="E7E8E8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54680" cy="5143500"/>
          </a:xfrm>
          <a:prstGeom prst="rect">
            <a:avLst/>
          </a:prstGeom>
          <a:solidFill>
            <a:srgbClr val="101C16"/>
          </a:solidFill>
          <a:ln w="12700">
            <a:solidFill>
              <a:srgbClr val="1C27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154680" cy="54864"/>
          </a:xfrm>
          <a:prstGeom prst="rect">
            <a:avLst/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01168"/>
            <a:ext cx="548640" cy="182880"/>
          </a:xfrm>
          <a:prstGeom prst="rect">
            <a:avLst/>
          </a:prstGeom>
          <a:solidFill>
            <a:srgbClr val="01632D"/>
          </a:solidFill>
          <a:ln w="12700">
            <a:solidFill>
              <a:srgbClr val="0163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0116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BDE5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POC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74320" y="5029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E5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Merchant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74980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077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Calculates position · sets pricing strategy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42416"/>
            <a:ext cx="2606040" cy="0"/>
          </a:xfrm>
          <a:prstGeom prst="line">
            <a:avLst/>
          </a:prstGeom>
          <a:noFill/>
          <a:ln w="6350">
            <a:solidFill>
              <a:srgbClr val="0163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52144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084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HANDOFF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74320" y="135331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Email to originators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4320" y="2359152"/>
            <a:ext cx="2606040" cy="0"/>
          </a:xfrm>
          <a:prstGeom prst="line">
            <a:avLst/>
          </a:prstGeom>
          <a:noFill/>
          <a:ln w="6350">
            <a:solidFill>
              <a:srgbClr val="0163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468880"/>
            <a:ext cx="2606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FA4A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Merchant sends lead lists manually via email. No confirmation of receipt, no versioning, no live connection to the scenario.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4279392"/>
            <a:ext cx="1536192" cy="201168"/>
          </a:xfrm>
          <a:prstGeom prst="rect">
            <a:avLst/>
          </a:prstGeom>
          <a:solidFill>
            <a:srgbClr val="2A0608"/>
          </a:solidFill>
          <a:ln w="9525">
            <a:solidFill>
              <a:srgbClr val="6A101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27939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B56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Disconnected handoff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883664" y="4279392"/>
            <a:ext cx="777240" cy="201168"/>
          </a:xfrm>
          <a:prstGeom prst="rect">
            <a:avLst/>
          </a:prstGeom>
          <a:solidFill>
            <a:srgbClr val="0A1810"/>
          </a:solidFill>
          <a:ln w="9525">
            <a:solidFill>
              <a:srgbClr val="1A40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83664" y="427939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1A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Email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74320" y="482803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163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 / 14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0" y="4960620"/>
            <a:ext cx="3154680" cy="182880"/>
          </a:xfrm>
          <a:prstGeom prst="rect">
            <a:avLst/>
          </a:prstGeom>
          <a:solidFill>
            <a:srgbClr val="01632D"/>
          </a:solidFill>
          <a:ln w="12700">
            <a:solidFill>
              <a:srgbClr val="0163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0" y="274320"/>
            <a:ext cx="55778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E8"/>
            </a:solidFill>
            <a:prstDash val="dash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91840" y="24003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BDD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 screenshot ]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54680" y="4960620"/>
            <a:ext cx="5989320" cy="182880"/>
          </a:xfrm>
          <a:prstGeom prst="rect">
            <a:avLst/>
          </a:prstGeom>
          <a:solidFill>
            <a:srgbClr val="E7E8E8"/>
          </a:solidFill>
          <a:ln w="12700">
            <a:solidFill>
              <a:srgbClr val="E7E8E8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54680" cy="5143500"/>
          </a:xfrm>
          <a:prstGeom prst="rect">
            <a:avLst/>
          </a:prstGeom>
          <a:solidFill>
            <a:srgbClr val="101C16"/>
          </a:solidFill>
          <a:ln w="12700">
            <a:solidFill>
              <a:srgbClr val="1C27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154680" cy="54864"/>
          </a:xfrm>
          <a:prstGeom prst="rect">
            <a:avLst/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01168"/>
            <a:ext cx="548640" cy="182880"/>
          </a:xfrm>
          <a:prstGeom prst="rect">
            <a:avLst/>
          </a:prstGeom>
          <a:solidFill>
            <a:srgbClr val="01632D"/>
          </a:solidFill>
          <a:ln w="12700">
            <a:solidFill>
              <a:srgbClr val="0163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0116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BDE5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POC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74320" y="5029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E5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Merchant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74980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077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Calculates position · sets pricing strategy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42416"/>
            <a:ext cx="2606040" cy="0"/>
          </a:xfrm>
          <a:prstGeom prst="line">
            <a:avLst/>
          </a:prstGeom>
          <a:noFill/>
          <a:ln w="6350">
            <a:solidFill>
              <a:srgbClr val="0163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52144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084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MONITOR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74320" y="135331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Pull report, scan manually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4320" y="2359152"/>
            <a:ext cx="2606040" cy="0"/>
          </a:xfrm>
          <a:prstGeom prst="line">
            <a:avLst/>
          </a:prstGeom>
          <a:noFill/>
          <a:ln w="6350">
            <a:solidFill>
              <a:srgbClr val="0163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468880"/>
            <a:ext cx="2606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FA4A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Merchant pulls the sales contract report and manually scans a large table to identify which contracts were strategic bids — from memory. No attribution in the tool.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4279392"/>
            <a:ext cx="1135685" cy="201168"/>
          </a:xfrm>
          <a:prstGeom prst="rect">
            <a:avLst/>
          </a:prstGeom>
          <a:solidFill>
            <a:srgbClr val="2A0608"/>
          </a:solidFill>
          <a:ln w="9525">
            <a:solidFill>
              <a:srgbClr val="6A101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279392"/>
            <a:ext cx="11356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B56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attribution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483157" y="4279392"/>
            <a:ext cx="1335938" cy="201168"/>
          </a:xfrm>
          <a:prstGeom prst="rect">
            <a:avLst/>
          </a:prstGeom>
          <a:solidFill>
            <a:srgbClr val="0A1810"/>
          </a:solidFill>
          <a:ln w="9525">
            <a:solidFill>
              <a:srgbClr val="1A40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83157" y="4279392"/>
            <a:ext cx="13359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1A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ERP · Spreadsheet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74320" y="482803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163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 / 14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0" y="4960620"/>
            <a:ext cx="3154680" cy="182880"/>
          </a:xfrm>
          <a:prstGeom prst="rect">
            <a:avLst/>
          </a:prstGeom>
          <a:solidFill>
            <a:srgbClr val="01632D"/>
          </a:solidFill>
          <a:ln w="12700">
            <a:solidFill>
              <a:srgbClr val="0163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0" y="274320"/>
            <a:ext cx="55778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E8"/>
            </a:solidFill>
            <a:prstDash val="dash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91840" y="24003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BDD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 screenshot ]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54680" y="4960620"/>
            <a:ext cx="5989320" cy="182880"/>
          </a:xfrm>
          <a:prstGeom prst="rect">
            <a:avLst/>
          </a:prstGeom>
          <a:solidFill>
            <a:srgbClr val="E7E8E8"/>
          </a:solidFill>
          <a:ln w="12700">
            <a:solidFill>
              <a:srgbClr val="E7E8E8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54680" cy="5143500"/>
          </a:xfrm>
          <a:prstGeom prst="rect">
            <a:avLst/>
          </a:prstGeom>
          <a:solidFill>
            <a:srgbClr val="101C16"/>
          </a:solidFill>
          <a:ln w="12700">
            <a:solidFill>
              <a:srgbClr val="1C27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154680" cy="54864"/>
          </a:xfrm>
          <a:prstGeom prst="rect">
            <a:avLst/>
          </a:prstGeom>
          <a:solidFill>
            <a:srgbClr val="81AB40"/>
          </a:solidFill>
          <a:ln w="12700">
            <a:solidFill>
              <a:srgbClr val="81AB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01168"/>
            <a:ext cx="548640" cy="182880"/>
          </a:xfrm>
          <a:prstGeom prst="rect">
            <a:avLst/>
          </a:prstGeom>
          <a:solidFill>
            <a:srgbClr val="01632D"/>
          </a:solidFill>
          <a:ln w="12700">
            <a:solidFill>
              <a:srgbClr val="0163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0116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BDE5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POC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74320" y="5029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E5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Originator (GOM/SAR)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74980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077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Executes pricing · works leads inbound &amp; outbound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42416"/>
            <a:ext cx="2606040" cy="0"/>
          </a:xfrm>
          <a:prstGeom prst="line">
            <a:avLst/>
          </a:prstGeom>
          <a:noFill/>
          <a:ln w="6350">
            <a:solidFill>
              <a:srgbClr val="0163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52144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81A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RECEIVE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74320" y="135331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Weekly target &amp; strategy from merchant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4320" y="2359152"/>
            <a:ext cx="2606040" cy="0"/>
          </a:xfrm>
          <a:prstGeom prst="line">
            <a:avLst/>
          </a:prstGeom>
          <a:noFill/>
          <a:ln w="6350">
            <a:solidFill>
              <a:srgbClr val="0163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468880"/>
            <a:ext cx="2606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FA4A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Originator receives weekly targets from merchant — usually via Monday team call or email. Still happens before the lead list arrives.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4279392"/>
            <a:ext cx="1202436" cy="201168"/>
          </a:xfrm>
          <a:prstGeom prst="rect">
            <a:avLst/>
          </a:prstGeom>
          <a:solidFill>
            <a:srgbClr val="2A0608"/>
          </a:solidFill>
          <a:ln w="9525">
            <a:solidFill>
              <a:srgbClr val="6A101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279392"/>
            <a:ext cx="12024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B56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Manual delivery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549908" y="4279392"/>
            <a:ext cx="1068934" cy="201168"/>
          </a:xfrm>
          <a:prstGeom prst="rect">
            <a:avLst/>
          </a:prstGeom>
          <a:solidFill>
            <a:srgbClr val="0A1810"/>
          </a:solidFill>
          <a:ln w="9525">
            <a:solidFill>
              <a:srgbClr val="1A40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49908" y="4279392"/>
            <a:ext cx="10689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1A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Email · Phone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74320" y="482803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163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 / 14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0" y="4960620"/>
            <a:ext cx="3154680" cy="182880"/>
          </a:xfrm>
          <a:prstGeom prst="rect">
            <a:avLst/>
          </a:prstGeom>
          <a:solidFill>
            <a:srgbClr val="01632D"/>
          </a:solidFill>
          <a:ln w="12700">
            <a:solidFill>
              <a:srgbClr val="0163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0" y="274320"/>
            <a:ext cx="55778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E8"/>
            </a:solidFill>
            <a:prstDash val="dash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91840" y="24003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BDD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 screenshot ]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54680" y="4960620"/>
            <a:ext cx="5989320" cy="182880"/>
          </a:xfrm>
          <a:prstGeom prst="rect">
            <a:avLst/>
          </a:prstGeom>
          <a:solidFill>
            <a:srgbClr val="E7E8E8"/>
          </a:solidFill>
          <a:ln w="12700">
            <a:solidFill>
              <a:srgbClr val="E7E8E8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54680" cy="5143500"/>
          </a:xfrm>
          <a:prstGeom prst="rect">
            <a:avLst/>
          </a:prstGeom>
          <a:solidFill>
            <a:srgbClr val="101C16"/>
          </a:solidFill>
          <a:ln w="12700">
            <a:solidFill>
              <a:srgbClr val="1C27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154680" cy="54864"/>
          </a:xfrm>
          <a:prstGeom prst="rect">
            <a:avLst/>
          </a:prstGeom>
          <a:solidFill>
            <a:srgbClr val="81AB40"/>
          </a:solidFill>
          <a:ln w="12700">
            <a:solidFill>
              <a:srgbClr val="81AB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01168"/>
            <a:ext cx="548640" cy="182880"/>
          </a:xfrm>
          <a:prstGeom prst="rect">
            <a:avLst/>
          </a:prstGeom>
          <a:solidFill>
            <a:srgbClr val="01632D"/>
          </a:solidFill>
          <a:ln w="12700">
            <a:solidFill>
              <a:srgbClr val="0163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0116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BDE5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POC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74320" y="5029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E5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Originator (GOM/SAR)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74980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077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Executes pricing · works leads inbound &amp; outbound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42416"/>
            <a:ext cx="2606040" cy="0"/>
          </a:xfrm>
          <a:prstGeom prst="line">
            <a:avLst/>
          </a:prstGeom>
          <a:noFill/>
          <a:ln w="6350">
            <a:solidFill>
              <a:srgbClr val="0163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52144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81A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RECEIVE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74320" y="135331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Receive lead list from merchant via email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4320" y="2359152"/>
            <a:ext cx="2606040" cy="0"/>
          </a:xfrm>
          <a:prstGeom prst="line">
            <a:avLst/>
          </a:prstGeom>
          <a:noFill/>
          <a:ln w="6350">
            <a:solidFill>
              <a:srgbClr val="0163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468880"/>
            <a:ext cx="2606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FA4A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Originator receives their own file or a combined file and filters for their leads. If merchant didn't clean the export, originator removes excess columns. Nearly unusable on mobile in the field.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4279392"/>
            <a:ext cx="1068934" cy="201168"/>
          </a:xfrm>
          <a:prstGeom prst="rect">
            <a:avLst/>
          </a:prstGeom>
          <a:solidFill>
            <a:srgbClr val="2A0608"/>
          </a:solidFill>
          <a:ln w="9525">
            <a:solidFill>
              <a:srgbClr val="6A101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279392"/>
            <a:ext cx="10689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B56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Messy handoff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416406" y="4279392"/>
            <a:ext cx="1402690" cy="201168"/>
          </a:xfrm>
          <a:prstGeom prst="rect">
            <a:avLst/>
          </a:prstGeom>
          <a:solidFill>
            <a:srgbClr val="2A0608"/>
          </a:solidFill>
          <a:ln w="9525">
            <a:solidFill>
              <a:srgbClr val="6A101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16406" y="4279392"/>
            <a:ext cx="14026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B56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Unusable on mobile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74320" y="482803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163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/ 14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0" y="4960620"/>
            <a:ext cx="3154680" cy="182880"/>
          </a:xfrm>
          <a:prstGeom prst="rect">
            <a:avLst/>
          </a:prstGeom>
          <a:solidFill>
            <a:srgbClr val="01632D"/>
          </a:solidFill>
          <a:ln w="12700">
            <a:solidFill>
              <a:srgbClr val="0163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0" y="274320"/>
            <a:ext cx="55778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E8"/>
            </a:solidFill>
            <a:prstDash val="dash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91840" y="24003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BDD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 screenshot ]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54680" y="4960620"/>
            <a:ext cx="5989320" cy="182880"/>
          </a:xfrm>
          <a:prstGeom prst="rect">
            <a:avLst/>
          </a:prstGeom>
          <a:solidFill>
            <a:srgbClr val="E7E8E8"/>
          </a:solidFill>
          <a:ln w="12700">
            <a:solidFill>
              <a:srgbClr val="E7E8E8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54680" cy="5143500"/>
          </a:xfrm>
          <a:prstGeom prst="rect">
            <a:avLst/>
          </a:prstGeom>
          <a:solidFill>
            <a:srgbClr val="101C16"/>
          </a:solidFill>
          <a:ln w="12700">
            <a:solidFill>
              <a:srgbClr val="1C27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154680" cy="54864"/>
          </a:xfrm>
          <a:prstGeom prst="rect">
            <a:avLst/>
          </a:prstGeom>
          <a:solidFill>
            <a:srgbClr val="81AB40"/>
          </a:solidFill>
          <a:ln w="12700">
            <a:solidFill>
              <a:srgbClr val="81AB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01168"/>
            <a:ext cx="548640" cy="182880"/>
          </a:xfrm>
          <a:prstGeom prst="rect">
            <a:avLst/>
          </a:prstGeom>
          <a:solidFill>
            <a:srgbClr val="01632D"/>
          </a:solidFill>
          <a:ln w="12700">
            <a:solidFill>
              <a:srgbClr val="0163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0116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BDE5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POC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74320" y="5029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E5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Originator (GOM/SAR)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74980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077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Executes pricing · works leads inbound &amp; outbound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42416"/>
            <a:ext cx="2606040" cy="0"/>
          </a:xfrm>
          <a:prstGeom prst="line">
            <a:avLst/>
          </a:prstGeom>
          <a:noFill/>
          <a:ln w="6350">
            <a:solidFill>
              <a:srgbClr val="0163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52144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81A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INBOUND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74320" y="135331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Inbound call — no bid price in context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4320" y="2359152"/>
            <a:ext cx="2606040" cy="0"/>
          </a:xfrm>
          <a:prstGeom prst="line">
            <a:avLst/>
          </a:prstGeom>
          <a:noFill/>
          <a:ln w="6350">
            <a:solidFill>
              <a:srgbClr val="0163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468880"/>
            <a:ext cx="2606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FA4A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Producer calls in — originator has no strategic bid price visible in Salesforce. Must recall from memory whether the producer is on the active list or cross-reference the spreadsheet mid-call.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4279392"/>
            <a:ext cx="1469441" cy="201168"/>
          </a:xfrm>
          <a:prstGeom prst="rect">
            <a:avLst/>
          </a:prstGeom>
          <a:solidFill>
            <a:srgbClr val="2A0608"/>
          </a:solidFill>
          <a:ln w="9525">
            <a:solidFill>
              <a:srgbClr val="6A101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279392"/>
            <a:ext cx="146944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B56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in-context price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74320" y="482803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163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 / 14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0" y="4960620"/>
            <a:ext cx="3154680" cy="182880"/>
          </a:xfrm>
          <a:prstGeom prst="rect">
            <a:avLst/>
          </a:prstGeom>
          <a:solidFill>
            <a:srgbClr val="01632D"/>
          </a:solidFill>
          <a:ln w="12700">
            <a:solidFill>
              <a:srgbClr val="0163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0" y="274320"/>
            <a:ext cx="55778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E8"/>
            </a:solidFill>
            <a:prstDash val="dash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91840" y="24003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BDD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 screenshot 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54680" y="4960620"/>
            <a:ext cx="5989320" cy="182880"/>
          </a:xfrm>
          <a:prstGeom prst="rect">
            <a:avLst/>
          </a:prstGeom>
          <a:solidFill>
            <a:srgbClr val="E7E8E8"/>
          </a:solidFill>
          <a:ln w="12700">
            <a:solidFill>
              <a:srgbClr val="E7E8E8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9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54680" cy="5143500"/>
          </a:xfrm>
          <a:prstGeom prst="rect">
            <a:avLst/>
          </a:prstGeom>
          <a:solidFill>
            <a:srgbClr val="101C16"/>
          </a:solidFill>
          <a:ln w="12700">
            <a:solidFill>
              <a:srgbClr val="1C27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154680" cy="54864"/>
          </a:xfrm>
          <a:prstGeom prst="rect">
            <a:avLst/>
          </a:prstGeom>
          <a:solidFill>
            <a:srgbClr val="81AB40"/>
          </a:solidFill>
          <a:ln w="12700">
            <a:solidFill>
              <a:srgbClr val="81AB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01168"/>
            <a:ext cx="548640" cy="182880"/>
          </a:xfrm>
          <a:prstGeom prst="rect">
            <a:avLst/>
          </a:prstGeom>
          <a:solidFill>
            <a:srgbClr val="01632D"/>
          </a:solidFill>
          <a:ln w="12700">
            <a:solidFill>
              <a:srgbClr val="0163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0116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BDE5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POC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74320" y="5029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E5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Originator (GOM/SAR)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74980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077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Executes pricing · works leads inbound &amp; outbound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42416"/>
            <a:ext cx="2606040" cy="0"/>
          </a:xfrm>
          <a:prstGeom prst="line">
            <a:avLst/>
          </a:prstGeom>
          <a:noFill/>
          <a:ln w="6350">
            <a:solidFill>
              <a:srgbClr val="0163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52144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81A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OUTBOUND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74320" y="135331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Outbound calls, POC lead list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4320" y="2359152"/>
            <a:ext cx="2606040" cy="0"/>
          </a:xfrm>
          <a:prstGeom prst="line">
            <a:avLst/>
          </a:prstGeom>
          <a:noFill/>
          <a:ln w="6350">
            <a:solidFill>
              <a:srgbClr val="0163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468880"/>
            <a:ext cx="2606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FA4A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Originator works an ML-targeted lead list — better prioritization than a generic queue. Still a spreadsheet in the field — nearly unusable on mobile for originators on the road.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4279392"/>
            <a:ext cx="1135685" cy="201168"/>
          </a:xfrm>
          <a:prstGeom prst="rect">
            <a:avLst/>
          </a:prstGeom>
          <a:solidFill>
            <a:srgbClr val="1A1800"/>
          </a:solidFill>
          <a:ln w="9525">
            <a:solidFill>
              <a:srgbClr val="5A44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279392"/>
            <a:ext cx="11356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EA8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Some targeting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483157" y="4279392"/>
            <a:ext cx="1402690" cy="201168"/>
          </a:xfrm>
          <a:prstGeom prst="rect">
            <a:avLst/>
          </a:prstGeom>
          <a:solidFill>
            <a:srgbClr val="2A0608"/>
          </a:solidFill>
          <a:ln w="9525">
            <a:solidFill>
              <a:srgbClr val="6A101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83157" y="4279392"/>
            <a:ext cx="14026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B56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Unusable on mobile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74320" y="482803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163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 / 14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0" y="4960620"/>
            <a:ext cx="3154680" cy="182880"/>
          </a:xfrm>
          <a:prstGeom prst="rect">
            <a:avLst/>
          </a:prstGeom>
          <a:solidFill>
            <a:srgbClr val="01632D"/>
          </a:solidFill>
          <a:ln w="12700">
            <a:solidFill>
              <a:srgbClr val="0163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0" y="274320"/>
            <a:ext cx="55778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E8"/>
            </a:solidFill>
            <a:prstDash val="dash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91840" y="24003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BDD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 screenshot ]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54680" y="4960620"/>
            <a:ext cx="5989320" cy="182880"/>
          </a:xfrm>
          <a:prstGeom prst="rect">
            <a:avLst/>
          </a:prstGeom>
          <a:solidFill>
            <a:srgbClr val="E7E8E8"/>
          </a:solidFill>
          <a:ln w="12700">
            <a:solidFill>
              <a:srgbClr val="E7E8E8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54680" cy="5143500"/>
          </a:xfrm>
          <a:prstGeom prst="rect">
            <a:avLst/>
          </a:prstGeom>
          <a:solidFill>
            <a:srgbClr val="101C16"/>
          </a:solidFill>
          <a:ln w="12700">
            <a:solidFill>
              <a:srgbClr val="1C27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154680" cy="54864"/>
          </a:xfrm>
          <a:prstGeom prst="rect">
            <a:avLst/>
          </a:prstGeom>
          <a:solidFill>
            <a:srgbClr val="81AB40"/>
          </a:solidFill>
          <a:ln w="12700">
            <a:solidFill>
              <a:srgbClr val="81AB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01168"/>
            <a:ext cx="548640" cy="182880"/>
          </a:xfrm>
          <a:prstGeom prst="rect">
            <a:avLst/>
          </a:prstGeom>
          <a:solidFill>
            <a:srgbClr val="01632D"/>
          </a:solidFill>
          <a:ln w="12700">
            <a:solidFill>
              <a:srgbClr val="0163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0116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BDE5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POC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74320" y="5029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E5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Originator (GOM/SAR)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74980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077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Executes pricing · works leads inbound &amp; outbound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42416"/>
            <a:ext cx="2606040" cy="0"/>
          </a:xfrm>
          <a:prstGeom prst="line">
            <a:avLst/>
          </a:prstGeom>
          <a:noFill/>
          <a:ln w="6350">
            <a:solidFill>
              <a:srgbClr val="0163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52144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81A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CALL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74320" y="135331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Quote price from spreadsheet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4320" y="2359152"/>
            <a:ext cx="2606040" cy="0"/>
          </a:xfrm>
          <a:prstGeom prst="line">
            <a:avLst/>
          </a:prstGeom>
          <a:noFill/>
          <a:ln w="6350">
            <a:solidFill>
              <a:srgbClr val="0163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468880"/>
            <a:ext cx="2606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FA4A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Originator quotes the forward bid price from the spreadsheet — the price the elevator will pay for grain delivered in the target contract month. Present but static — no live updates if merchant adjusts mid-week.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4279392"/>
            <a:ext cx="1135685" cy="201168"/>
          </a:xfrm>
          <a:prstGeom prst="rect">
            <a:avLst/>
          </a:prstGeom>
          <a:solidFill>
            <a:srgbClr val="1A1800"/>
          </a:solidFill>
          <a:ln w="9525">
            <a:solidFill>
              <a:srgbClr val="5A44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279392"/>
            <a:ext cx="11356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EA8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Static pricing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483157" y="4279392"/>
            <a:ext cx="1068934" cy="201168"/>
          </a:xfrm>
          <a:prstGeom prst="rect">
            <a:avLst/>
          </a:prstGeom>
          <a:solidFill>
            <a:srgbClr val="0A1810"/>
          </a:solidFill>
          <a:ln w="9525">
            <a:solidFill>
              <a:srgbClr val="1A40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83157" y="4279392"/>
            <a:ext cx="10689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1A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Phone · Excel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74320" y="482803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163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 / 14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0" y="4960620"/>
            <a:ext cx="3154680" cy="182880"/>
          </a:xfrm>
          <a:prstGeom prst="rect">
            <a:avLst/>
          </a:prstGeom>
          <a:solidFill>
            <a:srgbClr val="01632D"/>
          </a:solidFill>
          <a:ln w="12700">
            <a:solidFill>
              <a:srgbClr val="0163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0" y="274320"/>
            <a:ext cx="55778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E8"/>
            </a:solidFill>
            <a:prstDash val="dash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91840" y="24003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BDD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 screenshot ]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54680" y="4960620"/>
            <a:ext cx="5989320" cy="182880"/>
          </a:xfrm>
          <a:prstGeom prst="rect">
            <a:avLst/>
          </a:prstGeom>
          <a:solidFill>
            <a:srgbClr val="E7E8E8"/>
          </a:solidFill>
          <a:ln w="12700">
            <a:solidFill>
              <a:srgbClr val="E7E8E8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9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54680" cy="5143500"/>
          </a:xfrm>
          <a:prstGeom prst="rect">
            <a:avLst/>
          </a:prstGeom>
          <a:solidFill>
            <a:srgbClr val="101C16"/>
          </a:solidFill>
          <a:ln w="12700">
            <a:solidFill>
              <a:srgbClr val="1C27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154680" cy="54864"/>
          </a:xfrm>
          <a:prstGeom prst="rect">
            <a:avLst/>
          </a:prstGeom>
          <a:solidFill>
            <a:srgbClr val="81AB40"/>
          </a:solidFill>
          <a:ln w="12700">
            <a:solidFill>
              <a:srgbClr val="81AB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01168"/>
            <a:ext cx="548640" cy="182880"/>
          </a:xfrm>
          <a:prstGeom prst="rect">
            <a:avLst/>
          </a:prstGeom>
          <a:solidFill>
            <a:srgbClr val="01632D"/>
          </a:solidFill>
          <a:ln w="12700">
            <a:solidFill>
              <a:srgbClr val="0163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0116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BDE5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POC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74320" y="5029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E5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Originator (GOM/SAR)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74980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077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Executes pricing · works leads inbound &amp; outbound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42416"/>
            <a:ext cx="2606040" cy="0"/>
          </a:xfrm>
          <a:prstGeom prst="line">
            <a:avLst/>
          </a:prstGeom>
          <a:noFill/>
          <a:ln w="6350">
            <a:solidFill>
              <a:srgbClr val="0163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52144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81A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LOG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74320" y="135331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structured outcome log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4320" y="2359152"/>
            <a:ext cx="2606040" cy="0"/>
          </a:xfrm>
          <a:prstGeom prst="line">
            <a:avLst/>
          </a:prstGeom>
          <a:noFill/>
          <a:ln w="6350">
            <a:solidFill>
              <a:srgbClr val="0163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468880"/>
            <a:ext cx="2606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FA4A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Originator logs outcomes in Salesforce comment fields only — no standard format. Not fed back into the tool. The feedback loop between originator and merchant remains broken.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4279392"/>
            <a:ext cx="1335938" cy="201168"/>
          </a:xfrm>
          <a:prstGeom prst="rect">
            <a:avLst/>
          </a:prstGeom>
          <a:solidFill>
            <a:srgbClr val="2A0608"/>
          </a:solidFill>
          <a:ln w="9525">
            <a:solidFill>
              <a:srgbClr val="6A101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279392"/>
            <a:ext cx="13359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B56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Loop still broken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683410" y="4279392"/>
            <a:ext cx="868680" cy="201168"/>
          </a:xfrm>
          <a:prstGeom prst="rect">
            <a:avLst/>
          </a:prstGeom>
          <a:solidFill>
            <a:srgbClr val="0A1810"/>
          </a:solidFill>
          <a:ln w="9525">
            <a:solidFill>
              <a:srgbClr val="1A40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83410" y="427939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1A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Salesforce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74320" y="482803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163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14 / 14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0" y="4960620"/>
            <a:ext cx="3154680" cy="182880"/>
          </a:xfrm>
          <a:prstGeom prst="rect">
            <a:avLst/>
          </a:prstGeom>
          <a:solidFill>
            <a:srgbClr val="01632D"/>
          </a:solidFill>
          <a:ln w="12700">
            <a:solidFill>
              <a:srgbClr val="0163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0" y="274320"/>
            <a:ext cx="55778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E8"/>
            </a:solidFill>
            <a:prstDash val="dash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91840" y="24003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BDD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 screenshot ]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54680" y="4960620"/>
            <a:ext cx="5989320" cy="182880"/>
          </a:xfrm>
          <a:prstGeom prst="rect">
            <a:avLst/>
          </a:prstGeom>
          <a:solidFill>
            <a:srgbClr val="E7E8E8"/>
          </a:solidFill>
          <a:ln w="12700">
            <a:solidFill>
              <a:srgbClr val="E7E8E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POC Workflow Review</dc:title>
  <dc:subject>PptxGenJS Presentation</dc:subject>
  <dc:creator>PptxGenJS</dc:creator>
  <cp:lastModifiedBy>PptxGenJS</cp:lastModifiedBy>
  <cp:revision>1</cp:revision>
  <dcterms:created xsi:type="dcterms:W3CDTF">2026-03-13T15:18:13Z</dcterms:created>
  <dcterms:modified xsi:type="dcterms:W3CDTF">2026-03-13T15:18:13Z</dcterms:modified>
</cp:coreProperties>
</file>